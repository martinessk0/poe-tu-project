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Fira Sans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Helios Extended" panose="020B0604020202020204" charset="0"/>
      <p:regular r:id="rId14"/>
    </p:embeddedFont>
    <p:embeddedFont>
      <p:font typeface="Fira Sans Bold" panose="020B0604020202020204" charset="0"/>
      <p:regular r:id="rId15"/>
    </p:embeddedFont>
    <p:embeddedFont>
      <p:font typeface="Fira Sans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1690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825" cy="2709333"/>
            </a:xfrm>
            <a:custGeom>
              <a:avLst/>
              <a:gdLst/>
              <a:ahLst/>
              <a:cxnLst/>
              <a:rect l="l" t="t" r="r" b="b"/>
              <a:pathLst>
                <a:path w="1690825" h="2709333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66200"/>
            <a:chOff x="0" y="0"/>
            <a:chExt cx="1614733" cy="201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4733" cy="2013248"/>
            </a:xfrm>
            <a:custGeom>
              <a:avLst/>
              <a:gdLst/>
              <a:ahLst/>
              <a:cxnLst/>
              <a:rect l="l" t="t" r="r" b="b"/>
              <a:pathLst>
                <a:path w="1614733" h="2013248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097862" y="0"/>
            <a:ext cx="190138" cy="10287000"/>
            <a:chOff x="0" y="0"/>
            <a:chExt cx="50077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077" cy="2709333"/>
            </a:xfrm>
            <a:custGeom>
              <a:avLst/>
              <a:gdLst/>
              <a:ahLst/>
              <a:cxnLst/>
              <a:rect l="l" t="t" r="r" b="b"/>
              <a:pathLst>
                <a:path w="50077" h="2709333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1562100"/>
            <a:ext cx="7617013" cy="3388868"/>
            <a:chOff x="0" y="0"/>
            <a:chExt cx="10156017" cy="451849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3993346"/>
              <a:ext cx="10156017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0156017" cy="3327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4"/>
                </a:lnSpc>
              </a:pPr>
              <a:r>
                <a:rPr lang="en-US" sz="8640">
                  <a:solidFill>
                    <a:srgbClr val="F0A500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Паралелни Изчисления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296400" y="8677275"/>
            <a:ext cx="76962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bg-BG" sz="2499" b="1" dirty="0" smtClean="0">
                <a:solidFill>
                  <a:srgbClr val="FF99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Изготвили: Станимир Райков и Мартин Граховски</a:t>
            </a:r>
            <a:endParaRPr lang="en-US" sz="2499" b="1" dirty="0">
              <a:solidFill>
                <a:srgbClr val="FF9900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6849760"/>
            <a:chOff x="0" y="0"/>
            <a:chExt cx="14935200" cy="9133013"/>
          </a:xfrm>
        </p:grpSpPr>
        <p:sp>
          <p:nvSpPr>
            <p:cNvPr id="3" name="TextBox 3"/>
            <p:cNvSpPr txBox="1"/>
            <p:nvPr/>
          </p:nvSpPr>
          <p:spPr>
            <a:xfrm>
              <a:off x="0" y="7699375"/>
              <a:ext cx="13017500" cy="1433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Проучваме 2D уравнението на Поасон, прилагане на SOR метода с параметър ω=1.9 за ускоряване на конвергенцията, и дискретизация чрез 5-точков шаблон на мрежа 513×513.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4935200" cy="6050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F0A500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Математическа Постановка на Поасоновото Уравнение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52" y="6496050"/>
              <a:ext cx="12992948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FF9900"/>
                  </a:solidFill>
                  <a:latin typeface="Fira Sans"/>
                  <a:ea typeface="Fira Sans"/>
                  <a:cs typeface="Fira Sans"/>
                  <a:sym typeface="Fira Sans"/>
                </a:rPr>
                <a:t>ОБЯСНЕНИЕ НА SOR МЕТОДА ЗА РЕШАВАНЕ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524750"/>
            <a:ext cx="6886575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sz="21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Red-Black SOR стратегията разделя точките на две независими цвята, елиминирайки race condition и позволяваща </a:t>
            </a:r>
            <a:r>
              <a:rPr lang="en-US" sz="2100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пълна паралелизация</a:t>
            </a:r>
            <a:r>
              <a:rPr lang="en-US" sz="21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без синхронизация.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6886575" cy="5592695"/>
            <a:chOff x="0" y="0"/>
            <a:chExt cx="9182100" cy="7456927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"/>
              <a:ext cx="9182100" cy="6050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F0A500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Паралелна Стратегия: Red-Black SOR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268630"/>
              <a:ext cx="918210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F9900"/>
                  </a:solidFill>
                  <a:latin typeface="Fira Sans"/>
                  <a:ea typeface="Fira Sans"/>
                  <a:cs typeface="Fira Sans"/>
                  <a:sym typeface="Fira Sans"/>
                </a:rPr>
                <a:t>Решение на race condition чрез шахматна наредба на точки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8098225" y="0"/>
            <a:ext cx="189775" cy="10287000"/>
            <a:chOff x="0" y="0"/>
            <a:chExt cx="49982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66750"/>
            <a:ext cx="6886575" cy="4324350"/>
            <a:chOff x="0" y="0"/>
            <a:chExt cx="1740161" cy="1092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0160" cy="1092715"/>
            </a:xfrm>
            <a:custGeom>
              <a:avLst/>
              <a:gdLst/>
              <a:ahLst/>
              <a:cxnLst/>
              <a:rect l="l" t="t" r="r" b="b"/>
              <a:pathLst>
                <a:path w="1740160" h="1092715">
                  <a:moveTo>
                    <a:pt x="0" y="0"/>
                  </a:moveTo>
                  <a:lnTo>
                    <a:pt x="1740160" y="0"/>
                  </a:lnTo>
                  <a:lnTo>
                    <a:pt x="1740160" y="1092715"/>
                  </a:lnTo>
                  <a:lnTo>
                    <a:pt x="0" y="1092715"/>
                  </a:lnTo>
                  <a:close/>
                </a:path>
              </a:pathLst>
            </a:custGeom>
            <a:blipFill>
              <a:blip r:embed="rId2"/>
              <a:stretch>
                <a:fillRect l="-436" r="-43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734675" y="5295900"/>
            <a:ext cx="6886575" cy="4324350"/>
            <a:chOff x="0" y="0"/>
            <a:chExt cx="1740161" cy="1092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0160" cy="1092715"/>
            </a:xfrm>
            <a:custGeom>
              <a:avLst/>
              <a:gdLst/>
              <a:ahLst/>
              <a:cxnLst/>
              <a:rect l="l" t="t" r="r" b="b"/>
              <a:pathLst>
                <a:path w="1740160" h="1092715">
                  <a:moveTo>
                    <a:pt x="0" y="0"/>
                  </a:moveTo>
                  <a:lnTo>
                    <a:pt x="1740160" y="0"/>
                  </a:lnTo>
                  <a:lnTo>
                    <a:pt x="1740160" y="1092715"/>
                  </a:lnTo>
                  <a:lnTo>
                    <a:pt x="0" y="1092715"/>
                  </a:lnTo>
                  <a:close/>
                </a:path>
              </a:pathLst>
            </a:custGeom>
            <a:blipFill>
              <a:blip r:embed="rId3"/>
              <a:stretch>
                <a:fillRect l="-436" r="-43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95325"/>
            <a:ext cx="12072938" cy="230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A5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Измерени Резултати на dahu-26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6886575" cy="2307889"/>
            <a:chOff x="0" y="0"/>
            <a:chExt cx="9182100" cy="3077186"/>
          </a:xfrm>
        </p:grpSpPr>
        <p:sp>
          <p:nvSpPr>
            <p:cNvPr id="4" name="TextBox 4"/>
            <p:cNvSpPr txBox="1"/>
            <p:nvPr/>
          </p:nvSpPr>
          <p:spPr>
            <a:xfrm>
              <a:off x="0" y="1157837"/>
              <a:ext cx="9182100" cy="19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При 16 нишки, реалният speedup достига </a:t>
              </a:r>
              <a:r>
                <a:rPr lang="en-US" sz="2099" b="1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18.37×</a:t>
              </a: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, показвайки максималната ефективност от паралелизацията. При 32 нишки, наблюдаваме </a:t>
              </a:r>
              <a:r>
                <a:rPr lang="en-US" sz="2099" b="1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деградация</a:t>
              </a: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, която потвърджа NUMA ефектите.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1821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F99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SPEEDUP ПРИ НИШКИ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5143500"/>
            <a:ext cx="6886575" cy="2307889"/>
            <a:chOff x="0" y="0"/>
            <a:chExt cx="9182100" cy="3077186"/>
          </a:xfrm>
        </p:grpSpPr>
        <p:sp>
          <p:nvSpPr>
            <p:cNvPr id="7" name="TextBox 7"/>
            <p:cNvSpPr txBox="1"/>
            <p:nvPr/>
          </p:nvSpPr>
          <p:spPr>
            <a:xfrm>
              <a:off x="0" y="1157837"/>
              <a:ext cx="9182100" cy="19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Ефикасността над 100% до 16 нишки демонстрира </a:t>
              </a:r>
              <a:r>
                <a:rPr lang="en-US" sz="2099" b="1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суперлинеен ефект</a:t>
              </a: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от cache reuse. При 32 нишки, ефикасността пада до 54%, потвърдвайки необходимостта от оптимизация.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1821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F99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ЕФИКАСНОСТ НА АЛГОРИТЪРА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FF9900"/>
          </a:solidFill>
        </p:spPr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rcRect b="12462"/>
          <a:stretch/>
        </p:blipFill>
        <p:spPr>
          <a:xfrm>
            <a:off x="666750" y="723900"/>
            <a:ext cx="9793194" cy="719014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66750" y="8886825"/>
            <a:ext cx="9204437" cy="320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bg-BG" sz="1800" spc="-18" dirty="0" smtClean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Реално ускорение по брой нишки</a:t>
            </a:r>
            <a:endParaRPr lang="en-US" sz="1800" spc="-18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1126694" y="1028700"/>
            <a:ext cx="6650971" cy="5375275"/>
            <a:chOff x="-1395008" y="-711200"/>
            <a:chExt cx="8867961" cy="7167038"/>
          </a:xfrm>
        </p:grpSpPr>
        <p:sp>
          <p:nvSpPr>
            <p:cNvPr id="9" name="TextBox 9"/>
            <p:cNvSpPr txBox="1"/>
            <p:nvPr/>
          </p:nvSpPr>
          <p:spPr>
            <a:xfrm>
              <a:off x="-1395008" y="-711200"/>
              <a:ext cx="8659408" cy="26332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  <a:spcBef>
                  <a:spcPct val="0"/>
                </a:spcBef>
              </a:pPr>
              <a:r>
                <a:rPr lang="bg-BG" sz="7000" u="none" strike="noStrike" dirty="0" smtClean="0">
                  <a:solidFill>
                    <a:srgbClr val="F0A500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Анализ на ускорението</a:t>
              </a:r>
              <a:endParaRPr lang="en-US" sz="7000" u="none" strike="noStrike" dirty="0">
                <a:solidFill>
                  <a:srgbClr val="F0A500"/>
                </a:solidFill>
                <a:latin typeface="Helios Extended"/>
                <a:ea typeface="Helios Extended"/>
                <a:cs typeface="Helios Extended"/>
                <a:sym typeface="Helios Extend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1186455" y="4267203"/>
              <a:ext cx="8659408" cy="21886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150"/>
                </a:lnSpc>
                <a:spcBef>
                  <a:spcPct val="0"/>
                </a:spcBef>
              </a:pPr>
              <a:r>
                <a:rPr lang="bg-BG" sz="2100" spc="-42" dirty="0" smtClean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Графиката показва как ускорението расте при увеличаване на броя нишки. Най-добрият резултат е при 16 нишки, където паралелното изпълнение достига максимална ефективност на машината.</a:t>
              </a:r>
              <a:endParaRPr lang="en-US" sz="2100" spc="-42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4" cy="4826627"/>
            </a:xfrm>
            <a:custGeom>
              <a:avLst/>
              <a:gdLst/>
              <a:ahLst/>
              <a:cxnLst/>
              <a:rect l="l" t="t" r="r" b="b"/>
              <a:pathLst>
                <a:path w="50534" h="4826627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FF9900"/>
          </a:solidFill>
        </p:spPr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rcRect b="12582"/>
          <a:stretch/>
        </p:blipFill>
        <p:spPr>
          <a:xfrm>
            <a:off x="391497" y="353783"/>
            <a:ext cx="9816406" cy="715191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66750" y="8886825"/>
            <a:ext cx="9204437" cy="320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bg-BG" sz="1800" spc="-18" dirty="0" smtClean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Ефикасност според броя нишки</a:t>
            </a:r>
            <a:endParaRPr lang="en-US" sz="1800" spc="-18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1049000" y="571500"/>
            <a:ext cx="7010400" cy="6115127"/>
            <a:chOff x="0" y="19051"/>
            <a:chExt cx="7264400" cy="5871541"/>
          </a:xfrm>
        </p:grpSpPr>
        <p:sp>
          <p:nvSpPr>
            <p:cNvPr id="9" name="TextBox 9"/>
            <p:cNvSpPr txBox="1"/>
            <p:nvPr/>
          </p:nvSpPr>
          <p:spPr>
            <a:xfrm>
              <a:off x="0" y="19051"/>
              <a:ext cx="7264400" cy="3792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00"/>
                </a:lnSpc>
                <a:spcBef>
                  <a:spcPct val="0"/>
                </a:spcBef>
              </a:pPr>
              <a:r>
                <a:rPr lang="bg-BG" sz="7000" u="none" strike="noStrike" dirty="0" smtClean="0">
                  <a:solidFill>
                    <a:srgbClr val="F0A500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Ефикасност на паралелното изпълнение</a:t>
              </a:r>
              <a:endParaRPr lang="en-US" sz="7000" u="none" strike="noStrike" dirty="0">
                <a:solidFill>
                  <a:srgbClr val="F0A500"/>
                </a:solidFill>
                <a:latin typeface="Helios Extended"/>
                <a:ea typeface="Helios Extended"/>
                <a:cs typeface="Helios Extended"/>
                <a:sym typeface="Helios Extend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08525"/>
              <a:ext cx="7264400" cy="1182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50"/>
                </a:lnSpc>
                <a:spcBef>
                  <a:spcPct val="0"/>
                </a:spcBef>
              </a:pPr>
              <a:r>
                <a:rPr lang="bg-BG" sz="2100" spc="-42" dirty="0" smtClean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Ефикасността на </a:t>
              </a:r>
              <a:r>
                <a:rPr lang="en-US" sz="2100" spc="-42" dirty="0" smtClean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Red-Black SOR</a:t>
              </a:r>
              <a:r>
                <a:rPr lang="bg-BG" sz="2100" spc="-42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bg-BG" sz="2100" spc="-42" dirty="0" smtClean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остава над 100% до 16 нишки. Това показва отлично скалиране и суперлинеен ефект, породен от по-добро използване на кеш паметта.</a:t>
              </a:r>
              <a:endParaRPr lang="en-US" sz="2100" spc="-42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95325"/>
            <a:ext cx="11201400" cy="341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A5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Реален и теоретичен speedup сравнение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6886575" cy="3400739"/>
            <a:chOff x="0" y="0"/>
            <a:chExt cx="9182100" cy="4534318"/>
          </a:xfrm>
        </p:grpSpPr>
        <p:sp>
          <p:nvSpPr>
            <p:cNvPr id="4" name="TextBox 4"/>
            <p:cNvSpPr txBox="1"/>
            <p:nvPr/>
          </p:nvSpPr>
          <p:spPr>
            <a:xfrm>
              <a:off x="0" y="1157837"/>
              <a:ext cx="9182100" cy="337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Законът на Амдал описва максималната ускоряемост на програми, базирана на процента на паралелизируемата работа. Когато s е частта от последователния код, теоретичният максимум за p нишки е S(p) = 1 / (s + (1-s)/p). Това показва как увеличаването на нишките води до diminishing returns след определен брой.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1821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F99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ЗАКОН НА АМДАЛ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5143500"/>
            <a:ext cx="6886575" cy="3036456"/>
            <a:chOff x="0" y="0"/>
            <a:chExt cx="9182100" cy="4048608"/>
          </a:xfrm>
        </p:grpSpPr>
        <p:sp>
          <p:nvSpPr>
            <p:cNvPr id="7" name="TextBox 7"/>
            <p:cNvSpPr txBox="1"/>
            <p:nvPr/>
          </p:nvSpPr>
          <p:spPr>
            <a:xfrm>
              <a:off x="0" y="1157837"/>
              <a:ext cx="9182100" cy="2890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При 16 нишки реалният speedup от 18.37× значително надминава теоретичния максимум, показан от закона на Амдал. Това е индикатор за суперлинеен ефект, който може да се дължи на ефективно управление на кеша и оптимизация на достъпа до паметта, позволявайки по-добро използване на ресурсите.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18210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F99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СУПЕРЛИНЕЕН ЕФЕКТ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333</Words>
  <Application>Microsoft Office PowerPoint</Application>
  <PresentationFormat>Custom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Fira Sans</vt:lpstr>
      <vt:lpstr>Calibri</vt:lpstr>
      <vt:lpstr>Helios Extended</vt:lpstr>
      <vt:lpstr>Fira Sans Bold</vt:lpstr>
      <vt:lpstr>Fira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Паралелни Изчисления</dc:title>
  <dc:description>Presentation - Паралелни Изчисления</dc:description>
  <cp:lastModifiedBy>user</cp:lastModifiedBy>
  <cp:revision>4</cp:revision>
  <dcterms:created xsi:type="dcterms:W3CDTF">2006-08-16T00:00:00Z</dcterms:created>
  <dcterms:modified xsi:type="dcterms:W3CDTF">2026-05-10T18:10:18Z</dcterms:modified>
  <dc:identifier>DAHJSdaqm3A</dc:identifier>
</cp:coreProperties>
</file>