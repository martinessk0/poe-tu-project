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Helios Extended" charset="1" panose="02000505040000020004"/>
      <p:regular r:id="rId13"/>
    </p:embeddedFont>
    <p:embeddedFont>
      <p:font typeface="Fira Sans Bold" charset="1" panose="020B0803050000020004"/>
      <p:regular r:id="rId14"/>
    </p:embeddedFont>
    <p:embeddedFont>
      <p:font typeface="Fira Sans Light" charset="1" panose="020B0403050000020004"/>
      <p:regular r:id="rId15"/>
    </p:embeddedFont>
    <p:embeddedFont>
      <p:font typeface="Fira Sans" charset="1" panose="020B0503050000020004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F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6419850" cy="10287000"/>
            <a:chOff x="0" y="0"/>
            <a:chExt cx="1690825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90825" cy="2709333"/>
            </a:xfrm>
            <a:custGeom>
              <a:avLst/>
              <a:gdLst/>
              <a:ahLst/>
              <a:cxnLst/>
              <a:rect r="r" b="b" t="t" l="l"/>
              <a:pathLst>
                <a:path h="2709333" w="1690825">
                  <a:moveTo>
                    <a:pt x="0" y="0"/>
                  </a:moveTo>
                  <a:lnTo>
                    <a:pt x="1690825" y="0"/>
                  </a:lnTo>
                  <a:lnTo>
                    <a:pt x="1690825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F0A5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690825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66750" y="666750"/>
            <a:ext cx="7191375" cy="8966200"/>
            <a:chOff x="0" y="0"/>
            <a:chExt cx="1614733" cy="201324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14733" cy="2013248"/>
            </a:xfrm>
            <a:custGeom>
              <a:avLst/>
              <a:gdLst/>
              <a:ahLst/>
              <a:cxnLst/>
              <a:rect r="r" b="b" t="t" l="l"/>
              <a:pathLst>
                <a:path h="2013248" w="1614733">
                  <a:moveTo>
                    <a:pt x="0" y="0"/>
                  </a:moveTo>
                  <a:lnTo>
                    <a:pt x="1614733" y="0"/>
                  </a:lnTo>
                  <a:lnTo>
                    <a:pt x="1614733" y="2013248"/>
                  </a:lnTo>
                  <a:lnTo>
                    <a:pt x="0" y="2013248"/>
                  </a:lnTo>
                  <a:close/>
                </a:path>
              </a:pathLst>
            </a:custGeom>
            <a:blipFill>
              <a:blip r:embed="rId2"/>
              <a:stretch>
                <a:fillRect l="-417" t="0" r="-417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8097862" y="0"/>
            <a:ext cx="190138" cy="10287000"/>
            <a:chOff x="0" y="0"/>
            <a:chExt cx="50077" cy="270933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077" cy="2709333"/>
            </a:xfrm>
            <a:custGeom>
              <a:avLst/>
              <a:gdLst/>
              <a:ahLst/>
              <a:cxnLst/>
              <a:rect r="r" b="b" t="t" l="l"/>
              <a:pathLst>
                <a:path h="2709333" w="50077">
                  <a:moveTo>
                    <a:pt x="0" y="0"/>
                  </a:moveTo>
                  <a:lnTo>
                    <a:pt x="50077" y="0"/>
                  </a:lnTo>
                  <a:lnTo>
                    <a:pt x="50077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F0A5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50077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296400" y="1562100"/>
            <a:ext cx="7617013" cy="3388868"/>
            <a:chOff x="0" y="0"/>
            <a:chExt cx="10156017" cy="4518491"/>
          </a:xfrm>
        </p:grpSpPr>
        <p:sp>
          <p:nvSpPr>
            <p:cNvPr name="TextBox 11" id="11"/>
            <p:cNvSpPr txBox="true"/>
            <p:nvPr/>
          </p:nvSpPr>
          <p:spPr>
            <a:xfrm rot="0">
              <a:off x="0" y="3993346"/>
              <a:ext cx="10156017" cy="5251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359"/>
                </a:lnSpc>
              </a:pP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0" y="19050"/>
              <a:ext cx="10156017" cy="332765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9504"/>
                </a:lnSpc>
              </a:pPr>
              <a:r>
                <a:rPr lang="en-US" sz="8640">
                  <a:solidFill>
                    <a:srgbClr val="F0A500"/>
                  </a:solidFill>
                  <a:latin typeface="Helios Extended"/>
                  <a:ea typeface="Helios Extended"/>
                  <a:cs typeface="Helios Extended"/>
                  <a:sym typeface="Helios Extended"/>
                </a:rPr>
                <a:t>Паралелни Изчисления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9296400" y="8677275"/>
            <a:ext cx="6886575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b="true" sz="2499">
                <a:solidFill>
                  <a:srgbClr val="FF9900"/>
                </a:solidFill>
                <a:latin typeface="Fira Sans Bold"/>
                <a:ea typeface="Fira Sans Bold"/>
                <a:cs typeface="Fira Sans Bold"/>
                <a:sym typeface="Fira Sans Bold"/>
              </a:rPr>
              <a:t>PRESENTER: [PRESENTER NAME]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0B1F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1201400" cy="6849760"/>
            <a:chOff x="0" y="0"/>
            <a:chExt cx="14935200" cy="9133013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7699375"/>
              <a:ext cx="13017500" cy="143363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</a:pPr>
              <a:r>
                <a:rPr lang="en-US" sz="2099">
                  <a:solidFill>
                    <a:srgbClr val="FFFFFF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Проучваме 2D уравнението на Поасон, прилагане на SOR метода с параметър ω=1.9 за ускоряване на конвергенцията, и дискретизация чрез 5-точков шаблон на мрежа 513×513.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28575"/>
              <a:ext cx="14935200" cy="60504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800"/>
                </a:lnSpc>
                <a:spcBef>
                  <a:spcPct val="0"/>
                </a:spcBef>
              </a:pPr>
              <a:r>
                <a:rPr lang="en-US" sz="8000">
                  <a:solidFill>
                    <a:srgbClr val="F0A500"/>
                  </a:solidFill>
                  <a:latin typeface="Helios Extended"/>
                  <a:ea typeface="Helios Extended"/>
                  <a:cs typeface="Helios Extended"/>
                  <a:sym typeface="Helios Extended"/>
                </a:rPr>
                <a:t>Математическа Постановка на Поасоновото Уравнение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24552" y="6496050"/>
              <a:ext cx="12992948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sz="2600">
                  <a:solidFill>
                    <a:srgbClr val="FF9900"/>
                  </a:solidFill>
                  <a:latin typeface="Fira Sans"/>
                  <a:ea typeface="Fira Sans"/>
                  <a:cs typeface="Fira Sans"/>
                  <a:sym typeface="Fira Sans"/>
                </a:rPr>
                <a:t>ОБЯСНЕНИЕ НА SOR МЕТОДА ЗА РЕШАВАНЕ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5400000">
            <a:off x="9068162" y="1029062"/>
            <a:ext cx="189775" cy="18326100"/>
            <a:chOff x="0" y="0"/>
            <a:chExt cx="49982" cy="482662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9982" cy="4826627"/>
            </a:xfrm>
            <a:custGeom>
              <a:avLst/>
              <a:gdLst/>
              <a:ahLst/>
              <a:cxnLst/>
              <a:rect r="r" b="b" t="t" l="l"/>
              <a:pathLst>
                <a:path h="4826627" w="49982">
                  <a:moveTo>
                    <a:pt x="0" y="0"/>
                  </a:moveTo>
                  <a:lnTo>
                    <a:pt x="49982" y="0"/>
                  </a:lnTo>
                  <a:lnTo>
                    <a:pt x="49982" y="4826627"/>
                  </a:lnTo>
                  <a:lnTo>
                    <a:pt x="0" y="4826627"/>
                  </a:lnTo>
                  <a:close/>
                </a:path>
              </a:pathLst>
            </a:custGeom>
            <a:solidFill>
              <a:srgbClr val="F0A50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49982" cy="48742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F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66750" y="7524750"/>
            <a:ext cx="6886575" cy="1655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60"/>
              </a:lnSpc>
            </a:pPr>
            <a:r>
              <a:rPr lang="en-US" sz="2100">
                <a:solidFill>
                  <a:srgbClr val="FFFFFF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Red-Black SOR стратегията разделя точките на две независими цвята, елиминирайки race condition и позволяваща </a:t>
            </a:r>
            <a:r>
              <a:rPr lang="en-US" b="true" sz="2100">
                <a:solidFill>
                  <a:srgbClr val="FFFFFF"/>
                </a:solidFill>
                <a:latin typeface="Fira Sans Bold"/>
                <a:ea typeface="Fira Sans Bold"/>
                <a:cs typeface="Fira Sans Bold"/>
                <a:sym typeface="Fira Sans Bold"/>
              </a:rPr>
              <a:t>пълна паралелизация</a:t>
            </a:r>
            <a:r>
              <a:rPr lang="en-US" sz="2100">
                <a:solidFill>
                  <a:srgbClr val="FFFFFF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 без синхронизация.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6886575" cy="5592695"/>
            <a:chOff x="0" y="0"/>
            <a:chExt cx="9182100" cy="7456927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28575"/>
              <a:ext cx="9182100" cy="60504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800"/>
                </a:lnSpc>
                <a:spcBef>
                  <a:spcPct val="0"/>
                </a:spcBef>
              </a:pPr>
              <a:r>
                <a:rPr lang="en-US" sz="8000">
                  <a:solidFill>
                    <a:srgbClr val="F0A500"/>
                  </a:solidFill>
                  <a:latin typeface="Helios Extended"/>
                  <a:ea typeface="Helios Extended"/>
                  <a:cs typeface="Helios Extended"/>
                  <a:sym typeface="Helios Extended"/>
                </a:rPr>
                <a:t>Паралелна Стратегия: Red-Black SOR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6268630"/>
              <a:ext cx="9182100" cy="11882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39"/>
                </a:lnSpc>
              </a:pPr>
              <a:r>
                <a:rPr lang="en-US" sz="2599">
                  <a:solidFill>
                    <a:srgbClr val="FF9900"/>
                  </a:solidFill>
                  <a:latin typeface="Fira Sans"/>
                  <a:ea typeface="Fira Sans"/>
                  <a:cs typeface="Fira Sans"/>
                  <a:sym typeface="Fira Sans"/>
                </a:rPr>
                <a:t>Решение на race condition чрез шахматна наредба на точки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-10800000">
            <a:off x="18098225" y="0"/>
            <a:ext cx="189775" cy="10287000"/>
            <a:chOff x="0" y="0"/>
            <a:chExt cx="49982" cy="270933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998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9982">
                  <a:moveTo>
                    <a:pt x="0" y="0"/>
                  </a:moveTo>
                  <a:lnTo>
                    <a:pt x="49982" y="0"/>
                  </a:lnTo>
                  <a:lnTo>
                    <a:pt x="4998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F0A50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49982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734675" y="666750"/>
            <a:ext cx="6886575" cy="4324350"/>
            <a:chOff x="0" y="0"/>
            <a:chExt cx="1740161" cy="10927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740160" cy="1092715"/>
            </a:xfrm>
            <a:custGeom>
              <a:avLst/>
              <a:gdLst/>
              <a:ahLst/>
              <a:cxnLst/>
              <a:rect r="r" b="b" t="t" l="l"/>
              <a:pathLst>
                <a:path h="1092715" w="1740160">
                  <a:moveTo>
                    <a:pt x="0" y="0"/>
                  </a:moveTo>
                  <a:lnTo>
                    <a:pt x="1740160" y="0"/>
                  </a:lnTo>
                  <a:lnTo>
                    <a:pt x="1740160" y="1092715"/>
                  </a:lnTo>
                  <a:lnTo>
                    <a:pt x="0" y="1092715"/>
                  </a:lnTo>
                  <a:close/>
                </a:path>
              </a:pathLst>
            </a:custGeom>
            <a:blipFill>
              <a:blip r:embed="rId2"/>
              <a:stretch>
                <a:fillRect l="-436" t="0" r="-436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0734675" y="5295900"/>
            <a:ext cx="6886575" cy="4324350"/>
            <a:chOff x="0" y="0"/>
            <a:chExt cx="1740161" cy="109271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740160" cy="1092715"/>
            </a:xfrm>
            <a:custGeom>
              <a:avLst/>
              <a:gdLst/>
              <a:ahLst/>
              <a:cxnLst/>
              <a:rect r="r" b="b" t="t" l="l"/>
              <a:pathLst>
                <a:path h="1092715" w="1740160">
                  <a:moveTo>
                    <a:pt x="0" y="0"/>
                  </a:moveTo>
                  <a:lnTo>
                    <a:pt x="1740160" y="0"/>
                  </a:lnTo>
                  <a:lnTo>
                    <a:pt x="1740160" y="1092715"/>
                  </a:lnTo>
                  <a:lnTo>
                    <a:pt x="0" y="1092715"/>
                  </a:lnTo>
                  <a:close/>
                </a:path>
              </a:pathLst>
            </a:custGeom>
            <a:blipFill>
              <a:blip r:embed="rId3"/>
              <a:stretch>
                <a:fillRect l="-436" t="0" r="-436" b="0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0B1F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66750" y="695325"/>
            <a:ext cx="12072938" cy="2301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>
                <a:solidFill>
                  <a:srgbClr val="F0A500"/>
                </a:solidFill>
                <a:latin typeface="Helios Extended"/>
                <a:ea typeface="Helios Extended"/>
                <a:cs typeface="Helios Extended"/>
                <a:sym typeface="Helios Extended"/>
              </a:rPr>
              <a:t>Измерени Резултати на dahu-26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5143500"/>
            <a:ext cx="6886575" cy="2307889"/>
            <a:chOff x="0" y="0"/>
            <a:chExt cx="9182100" cy="3077186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1157837"/>
              <a:ext cx="9182100" cy="19193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</a:pPr>
              <a:r>
                <a:rPr lang="en-US" sz="2099">
                  <a:solidFill>
                    <a:srgbClr val="FFFFFF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При 16 нишки, реалният speedup достига </a:t>
              </a:r>
              <a:r>
                <a:rPr lang="en-US" b="true" sz="2099">
                  <a:solidFill>
                    <a:srgbClr val="FFFFFF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18.37×</a:t>
              </a:r>
              <a:r>
                <a:rPr lang="en-US" sz="2099">
                  <a:solidFill>
                    <a:srgbClr val="FFFFFF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, показвайки максималната ефективност от паралелизацията. При 32 нишки, наблюдаваме </a:t>
              </a:r>
              <a:r>
                <a:rPr lang="en-US" b="true" sz="2099">
                  <a:solidFill>
                    <a:srgbClr val="FFFFFF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деградация</a:t>
              </a:r>
              <a:r>
                <a:rPr lang="en-US" sz="2099">
                  <a:solidFill>
                    <a:srgbClr val="FFFFFF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, която потвърджа NUMA ефектите.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-57150"/>
              <a:ext cx="91821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FF9900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SPEEDUP ПРИ НИШКИ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9296400" y="5143500"/>
            <a:ext cx="6886575" cy="2307889"/>
            <a:chOff x="0" y="0"/>
            <a:chExt cx="9182100" cy="307718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157837"/>
              <a:ext cx="9182100" cy="19193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</a:pPr>
              <a:r>
                <a:rPr lang="en-US" sz="2099">
                  <a:solidFill>
                    <a:srgbClr val="FFFFFF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Ефикасността над 100% до 16 нишки демонстрира </a:t>
              </a:r>
              <a:r>
                <a:rPr lang="en-US" b="true" sz="2099">
                  <a:solidFill>
                    <a:srgbClr val="FFFFFF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суперлинеен ефект</a:t>
              </a:r>
              <a:r>
                <a:rPr lang="en-US" sz="2099">
                  <a:solidFill>
                    <a:srgbClr val="FFFFFF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 от cache reuse. При 32 нишки, ефикасността пада до 54%, потвърдвайки необходимостта от оптимизация.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57150"/>
              <a:ext cx="91821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FF9900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ЕФИКАСНОСТ НА АЛГОРИТЪРА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5400000">
            <a:off x="9068162" y="1029062"/>
            <a:ext cx="189775" cy="18326100"/>
            <a:chOff x="0" y="0"/>
            <a:chExt cx="49982" cy="482662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9982" cy="4826627"/>
            </a:xfrm>
            <a:custGeom>
              <a:avLst/>
              <a:gdLst/>
              <a:ahLst/>
              <a:cxnLst/>
              <a:rect r="r" b="b" t="t" l="l"/>
              <a:pathLst>
                <a:path h="4826627" w="49982">
                  <a:moveTo>
                    <a:pt x="0" y="0"/>
                  </a:moveTo>
                  <a:lnTo>
                    <a:pt x="49982" y="0"/>
                  </a:lnTo>
                  <a:lnTo>
                    <a:pt x="49982" y="4826627"/>
                  </a:lnTo>
                  <a:lnTo>
                    <a:pt x="0" y="4826627"/>
                  </a:lnTo>
                  <a:close/>
                </a:path>
              </a:pathLst>
            </a:custGeom>
            <a:solidFill>
              <a:srgbClr val="F0A50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49982" cy="48742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F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9067114" y="1028014"/>
            <a:ext cx="191872" cy="18326100"/>
            <a:chOff x="0" y="0"/>
            <a:chExt cx="50534" cy="482662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534" cy="4826627"/>
            </a:xfrm>
            <a:custGeom>
              <a:avLst/>
              <a:gdLst/>
              <a:ahLst/>
              <a:cxnLst/>
              <a:rect r="r" b="b" t="t" l="l"/>
              <a:pathLst>
                <a:path h="4826627" w="50534">
                  <a:moveTo>
                    <a:pt x="0" y="0"/>
                  </a:moveTo>
                  <a:lnTo>
                    <a:pt x="50534" y="0"/>
                  </a:lnTo>
                  <a:lnTo>
                    <a:pt x="50534" y="4826627"/>
                  </a:lnTo>
                  <a:lnTo>
                    <a:pt x="0" y="482662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50534" cy="48742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AutoShape 5" id="5"/>
          <p:cNvSpPr/>
          <p:nvPr/>
        </p:nvSpPr>
        <p:spPr>
          <a:xfrm rot="0">
            <a:off x="0" y="0"/>
            <a:ext cx="10734675" cy="10287000"/>
          </a:xfrm>
          <a:prstGeom prst="rect">
            <a:avLst/>
          </a:prstGeom>
          <a:solidFill>
            <a:srgbClr val="FF9900"/>
          </a:solidFill>
        </p:spPr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403103" y="337577"/>
            <a:ext cx="9793194" cy="8213724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666750" y="8886825"/>
            <a:ext cx="9204437" cy="340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18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Real speedup by thread count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2172950" y="1562100"/>
            <a:ext cx="5448300" cy="4530090"/>
            <a:chOff x="0" y="0"/>
            <a:chExt cx="7264400" cy="6040120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19050"/>
              <a:ext cx="7264400" cy="26902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7700"/>
                </a:lnSpc>
                <a:spcBef>
                  <a:spcPct val="0"/>
                </a:spcBef>
              </a:pPr>
              <a:r>
                <a:rPr lang="en-US" sz="7000" strike="noStrike" u="none">
                  <a:solidFill>
                    <a:srgbClr val="F0A500"/>
                  </a:solidFill>
                  <a:latin typeface="Helios Extended"/>
                  <a:ea typeface="Helios Extended"/>
                  <a:cs typeface="Helios Extended"/>
                  <a:sym typeface="Helios Extended"/>
                </a:rPr>
                <a:t>Speedup Analysis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3413125"/>
              <a:ext cx="7264400" cy="26269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sz="2100" spc="-42">
                  <a:solidFill>
                    <a:srgbClr val="FFFFFF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The chart illustrates the </a:t>
              </a:r>
              <a:r>
                <a:rPr lang="en-US" b="true" sz="2100" spc="-42">
                  <a:solidFill>
                    <a:srgbClr val="FFFFFF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dramatic increase</a:t>
              </a:r>
              <a:r>
                <a:rPr lang="en-US" sz="2100" spc="-42">
                  <a:solidFill>
                    <a:srgbClr val="FFFFFF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 in speedup achieved with increasing thread counts, highlighting optimal performance at 16 threads, demonstrating the efficiency of parallel processing.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F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9067114" y="1028014"/>
            <a:ext cx="191872" cy="18326100"/>
            <a:chOff x="0" y="0"/>
            <a:chExt cx="50534" cy="482662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534" cy="4826627"/>
            </a:xfrm>
            <a:custGeom>
              <a:avLst/>
              <a:gdLst/>
              <a:ahLst/>
              <a:cxnLst/>
              <a:rect r="r" b="b" t="t" l="l"/>
              <a:pathLst>
                <a:path h="4826627" w="50534">
                  <a:moveTo>
                    <a:pt x="0" y="0"/>
                  </a:moveTo>
                  <a:lnTo>
                    <a:pt x="50534" y="0"/>
                  </a:lnTo>
                  <a:lnTo>
                    <a:pt x="50534" y="4826627"/>
                  </a:lnTo>
                  <a:lnTo>
                    <a:pt x="0" y="482662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50534" cy="48742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AutoShape 5" id="5"/>
          <p:cNvSpPr/>
          <p:nvPr/>
        </p:nvSpPr>
        <p:spPr>
          <a:xfrm rot="0">
            <a:off x="0" y="0"/>
            <a:ext cx="10734675" cy="10287000"/>
          </a:xfrm>
          <a:prstGeom prst="rect">
            <a:avLst/>
          </a:prstGeom>
          <a:solidFill>
            <a:srgbClr val="FF9900"/>
          </a:solidFill>
        </p:spPr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391497" y="353783"/>
            <a:ext cx="9816406" cy="8181312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666750" y="8886825"/>
            <a:ext cx="9204437" cy="340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18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Efficiency analysis across varying thread counts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2172950" y="1562100"/>
            <a:ext cx="5448300" cy="5501640"/>
            <a:chOff x="0" y="0"/>
            <a:chExt cx="7264400" cy="7335520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19050"/>
              <a:ext cx="7264400" cy="39856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7700"/>
                </a:lnSpc>
                <a:spcBef>
                  <a:spcPct val="0"/>
                </a:spcBef>
              </a:pPr>
              <a:r>
                <a:rPr lang="en-US" sz="7000" strike="noStrike" u="none">
                  <a:solidFill>
                    <a:srgbClr val="F0A500"/>
                  </a:solidFill>
                  <a:latin typeface="Helios Extended"/>
                  <a:ea typeface="Helios Extended"/>
                  <a:cs typeface="Helios Extended"/>
                  <a:sym typeface="Helios Extended"/>
                </a:rPr>
                <a:t>Efficiency of Parallel Execution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4708525"/>
              <a:ext cx="7264400" cy="26269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sz="2100" spc="-42">
                  <a:solidFill>
                    <a:srgbClr val="FFFFFF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The efficiency of the Red-Black SOR method demonstrates that </a:t>
              </a:r>
              <a:r>
                <a:rPr lang="en-US" b="true" sz="2100" spc="-42">
                  <a:solidFill>
                    <a:srgbClr val="FFFFFF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efficiency remains above 100% up to 16 threads</a:t>
              </a:r>
              <a:r>
                <a:rPr lang="en-US" sz="2100" spc="-42">
                  <a:solidFill>
                    <a:srgbClr val="FFFFFF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, showcasing excellent scaling and optimal performance due to cache reuse.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0B1F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66750" y="695325"/>
            <a:ext cx="11201400" cy="3416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>
                <a:solidFill>
                  <a:srgbClr val="F0A500"/>
                </a:solidFill>
                <a:latin typeface="Helios Extended"/>
                <a:ea typeface="Helios Extended"/>
                <a:cs typeface="Helios Extended"/>
                <a:sym typeface="Helios Extended"/>
              </a:rPr>
              <a:t>Реален и теоретичен speedup сравнение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5143500"/>
            <a:ext cx="6886575" cy="3400739"/>
            <a:chOff x="0" y="0"/>
            <a:chExt cx="9182100" cy="4534318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1157837"/>
              <a:ext cx="9182100" cy="33764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</a:pPr>
              <a:r>
                <a:rPr lang="en-US" sz="2099">
                  <a:solidFill>
                    <a:srgbClr val="FFFFFF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Законът на Амдал описва максималната ускоряемост на програми, базирана на процента на паралелизируемата работа. Когато s е частта от последователния код, теоретичният максимум за p нишки е S(p) = 1 / (s + (1-s)/p). Това показва как увеличаването на нишките води до diminishing returns след определен брой.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-57150"/>
              <a:ext cx="91821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FF9900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ЗАКОН НА АМДАЛ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9296400" y="5143500"/>
            <a:ext cx="6886575" cy="3036456"/>
            <a:chOff x="0" y="0"/>
            <a:chExt cx="9182100" cy="4048608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157837"/>
              <a:ext cx="9182100" cy="28907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</a:pPr>
              <a:r>
                <a:rPr lang="en-US" sz="2099">
                  <a:solidFill>
                    <a:srgbClr val="FFFFFF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При 16 нишки реалният speedup от 18.37× значително надминава теоретичния максимум, показан от закона на Амдал. Това е индикатор за суперлинеен ефект, който може да се дължи на ефективно управление на кеша и оптимизация на достъпа до паметта, позволявайки по-добро използване на ресурсите.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57150"/>
              <a:ext cx="9182100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FF9900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СУПЕРЛИНЕЕН ЕФЕКТ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5400000">
            <a:off x="9068162" y="1029062"/>
            <a:ext cx="189775" cy="18326100"/>
            <a:chOff x="0" y="0"/>
            <a:chExt cx="49982" cy="482662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9982" cy="4826627"/>
            </a:xfrm>
            <a:custGeom>
              <a:avLst/>
              <a:gdLst/>
              <a:ahLst/>
              <a:cxnLst/>
              <a:rect r="r" b="b" t="t" l="l"/>
              <a:pathLst>
                <a:path h="4826627" w="49982">
                  <a:moveTo>
                    <a:pt x="0" y="0"/>
                  </a:moveTo>
                  <a:lnTo>
                    <a:pt x="49982" y="0"/>
                  </a:lnTo>
                  <a:lnTo>
                    <a:pt x="49982" y="4826627"/>
                  </a:lnTo>
                  <a:lnTo>
                    <a:pt x="0" y="4826627"/>
                  </a:lnTo>
                  <a:close/>
                </a:path>
              </a:pathLst>
            </a:custGeom>
            <a:solidFill>
              <a:srgbClr val="F0A50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49982" cy="48742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Presentation - Паралелни Изчисления</dc:description>
  <dc:identifier>DAHJSdaqm3A</dc:identifier>
  <dcterms:modified xsi:type="dcterms:W3CDTF">2011-08-01T06:04:30Z</dcterms:modified>
  <cp:revision>1</cp:revision>
  <dc:title>Presentation - Паралелни Изчисления</dc:title>
</cp:coreProperties>
</file>